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sldIdLst>
    <p:sldId id="256" r:id="rId1"/>
    <p:sldId id="257" r:id="rId2"/>
    <p:sldId id="258" r:id="rId3"/>
    <p:sldId id="259" r:id="rId4"/>
    <p:sldId id="260" r:id="rId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FFFFF"/>
            </a:solidFill>
          </a:ln>
        </p:spPr>
      </p:sp>
      <p:sp>
        <p:nvSpPr>
          <p:cNvPr id="3" name="Shape 3"/>
          <p:cNvSpPr/>
          <p:nvPr/>
        </p:nvSpPr>
        <p:spPr>
          <a:xfrm>
            <a:off x="7239000" y="666750"/>
            <a:ext cx="4000500" cy="5334000"/>
          </a:xfrm>
          <a:prstGeom prst="roundRect">
            <a:avLst/>
          </a:prstGeom>
          <a:solidFill>
            <a:srgbClr val="0D766F"/>
          </a:solidFill>
          <a:ln>
            <a:solidFill>
              <a:srgbClr val="0D766F"/>
            </a:solidFill>
          </a:ln>
        </p:spPr>
      </p:sp>
      <p:sp>
        <p:nvSpPr>
          <p:cNvPr id="4" name="Shape 4"/>
          <p:cNvSpPr/>
          <p:nvPr/>
        </p:nvSpPr>
        <p:spPr>
          <a:xfrm>
            <a:off x="7734300" y="1238250"/>
            <a:ext cx="1333500" cy="1047750"/>
          </a:xfrm>
          <a:prstGeom prst="roundRect">
            <a:avLst/>
          </a:prstGeom>
          <a:solidFill>
            <a:srgbClr val="F4D58D"/>
          </a:solidFill>
          <a:ln>
            <a:solidFill>
              <a:srgbClr val="F4D58D"/>
            </a:solidFill>
          </a:ln>
        </p:spPr>
      </p:sp>
      <p:sp>
        <p:nvSpPr>
          <p:cNvPr id="5" name="Shape 5"/>
          <p:cNvSpPr/>
          <p:nvPr/>
        </p:nvSpPr>
        <p:spPr>
          <a:xfrm>
            <a:off x="9334500" y="2571750"/>
            <a:ext cx="1428750" cy="180975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762000" y="742950"/>
            <a:ext cx="59055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4600" b="1">
                <a:solidFill>
                  <a:srgbClr val="0D766F"/>
                </a:solidFill>
              </a:rPr>
              <a:t>EventVault</a:t>
            </a:r>
            <a:endParaRPr lang="en-US" sz="4600"/>
          </a:p>
        </p:txBody>
      </p:sp>
      <p:sp>
        <p:nvSpPr>
          <p:cNvPr id="7" name="Text 7"/>
          <p:cNvSpPr txBox="1"/>
          <p:nvPr/>
        </p:nvSpPr>
        <p:spPr>
          <a:xfrm>
            <a:off x="781050" y="1571625"/>
            <a:ext cx="6191250" cy="2095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4200" b="1">
                <a:solidFill>
                  <a:srgbClr val="17201B"/>
                </a:solidFill>
              </a:rPr>
              <a:t>Event &amp; Media Management Platform</a:t>
            </a:r>
            <a:endParaRPr lang="en-US" sz="4200"/>
          </a:p>
        </p:txBody>
      </p:sp>
      <p:sp>
        <p:nvSpPr>
          <p:cNvPr id="8" name="Text 8"/>
          <p:cNvSpPr txBox="1"/>
          <p:nvPr/>
        </p:nvSpPr>
        <p:spPr>
          <a:xfrm>
            <a:off x="800100" y="3905250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400">
                <a:solidFill>
                  <a:srgbClr val="64736B"/>
                </a:solidFill>
              </a:rPr>
              <a:t>A centralized, role-aware media workspace for clubs, photographers, and members.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800100" y="5572125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C9852F"/>
                </a:solidFill>
              </a:rPr>
              <a:t>Prototype, architecture, schema, and demo flow included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66750" y="495300"/>
            <a:ext cx="6667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4000" b="1">
                <a:solidFill>
                  <a:srgbClr val="17201B"/>
                </a:solidFill>
              </a:rPr>
              <a:t>Problem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85800" y="1219200"/>
            <a:ext cx="90487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400">
                <a:solidFill>
                  <a:srgbClr val="64736B"/>
                </a:solidFill>
              </a:rPr>
              <a:t>Event media gets scattered across personal folders, drive links, and private chats.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714375" y="2333625"/>
            <a:ext cx="2381250" cy="2190750"/>
          </a:xfrm>
          <a:prstGeom prst="roundRect">
            <a:avLst/>
          </a:prstGeom>
          <a:solidFill>
            <a:srgbClr val="DFF3EF"/>
          </a:solidFill>
          <a:ln>
            <a:solidFill>
              <a:srgbClr val="DFF3E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3495675" y="2333625"/>
            <a:ext cx="2381250" cy="2190750"/>
          </a:xfrm>
          <a:prstGeom prst="roundRect">
            <a:avLst/>
          </a:prstGeom>
          <a:solidFill>
            <a:srgbClr val="F7E7CC"/>
          </a:solidFill>
          <a:ln>
            <a:solidFill>
              <a:srgbClr val="F7E7CC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276975" y="2333625"/>
            <a:ext cx="2381250" cy="2190750"/>
          </a:xfrm>
          <a:prstGeom prst="round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</p:sp>
      <p:sp>
        <p:nvSpPr>
          <p:cNvPr id="13" name="Shape 13"/>
          <p:cNvSpPr/>
          <p:nvPr/>
        </p:nvSpPr>
        <p:spPr>
          <a:xfrm>
            <a:off x="9058275" y="2333625"/>
            <a:ext cx="2381250" cy="2190750"/>
          </a:xfrm>
          <a:prstGeom prst="roundRect">
            <a:avLst/>
          </a:prstGeom>
          <a:solidFill>
            <a:srgbClr val="F6DFE2"/>
          </a:solidFill>
          <a:ln>
            <a:solidFill>
              <a:srgbClr val="F6DFE2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71550" y="2647950"/>
            <a:ext cx="18097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07534E"/>
                </a:solidFill>
              </a:rPr>
              <a:t>Hard to search</a:t>
            </a:r>
            <a:endParaRPr lang="en-US" sz="2800"/>
          </a:p>
        </p:txBody>
      </p:sp>
      <p:sp>
        <p:nvSpPr>
          <p:cNvPr id="21" name="Text 21"/>
          <p:cNvSpPr txBox="1"/>
          <p:nvPr/>
        </p:nvSpPr>
        <p:spPr>
          <a:xfrm>
            <a:off x="3752850" y="2647950"/>
            <a:ext cx="18097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6F4619"/>
                </a:solidFill>
              </a:rPr>
              <a:t>Private access is unclear</a:t>
            </a:r>
            <a:endParaRPr lang="en-US" sz="2600"/>
          </a:p>
        </p:txBody>
      </p:sp>
      <p:sp>
        <p:nvSpPr>
          <p:cNvPr id="22" name="Text 22"/>
          <p:cNvSpPr txBox="1"/>
          <p:nvPr/>
        </p:nvSpPr>
        <p:spPr>
          <a:xfrm>
            <a:off x="6534150" y="2647950"/>
            <a:ext cx="18097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244B73"/>
                </a:solidFill>
              </a:rPr>
              <a:t>No single album view</a:t>
            </a:r>
            <a:endParaRPr lang="en-US" sz="2600"/>
          </a:p>
        </p:txBody>
      </p:sp>
      <p:sp>
        <p:nvSpPr>
          <p:cNvPr id="23" name="Text 23"/>
          <p:cNvSpPr txBox="1"/>
          <p:nvPr/>
        </p:nvSpPr>
        <p:spPr>
          <a:xfrm>
            <a:off x="9315450" y="2647950"/>
            <a:ext cx="18097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400" b="1">
                <a:solidFill>
                  <a:srgbClr val="7B3540"/>
                </a:solidFill>
              </a:rPr>
              <a:t>Photos of a person are hard to find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FFFFF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66750" y="495300"/>
            <a:ext cx="7810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4000" b="1">
                <a:solidFill>
                  <a:srgbClr val="17201B"/>
                </a:solidFill>
              </a:rPr>
              <a:t>Product Experience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66750" y="1238250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400">
                <a:solidFill>
                  <a:srgbClr val="64736B"/>
                </a:solidFill>
              </a:rPr>
              <a:t>Six working sections map directly to the judging criteria.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762000" y="2190750"/>
            <a:ext cx="304800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381500" y="2190750"/>
            <a:ext cx="304800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</p:sp>
      <p:sp>
        <p:nvSpPr>
          <p:cNvPr id="12" name="Shape 12"/>
          <p:cNvSpPr/>
          <p:nvPr/>
        </p:nvSpPr>
        <p:spPr>
          <a:xfrm>
            <a:off x="8001000" y="2190750"/>
            <a:ext cx="304800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</p:sp>
      <p:sp>
        <p:nvSpPr>
          <p:cNvPr id="13" name="Shape 13"/>
          <p:cNvSpPr/>
          <p:nvPr/>
        </p:nvSpPr>
        <p:spPr>
          <a:xfrm>
            <a:off x="762000" y="4000500"/>
            <a:ext cx="304800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381500" y="4000500"/>
            <a:ext cx="304800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001000" y="4000500"/>
            <a:ext cx="304800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1066800" y="2476500"/>
            <a:ext cx="228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0D766F"/>
                </a:solidFill>
              </a:rPr>
              <a:t>Dashboard</a:t>
            </a:r>
            <a:endParaRPr lang="en-US" sz="2600"/>
          </a:p>
        </p:txBody>
      </p:sp>
      <p:sp>
        <p:nvSpPr>
          <p:cNvPr id="21" name="Text 21"/>
          <p:cNvSpPr txBox="1"/>
          <p:nvPr/>
        </p:nvSpPr>
        <p:spPr>
          <a:xfrm>
            <a:off x="4686300" y="2476500"/>
            <a:ext cx="228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0D766F"/>
                </a:solidFill>
              </a:rPr>
              <a:t>Events</a:t>
            </a:r>
            <a:endParaRPr lang="en-US" sz="2600"/>
          </a:p>
        </p:txBody>
      </p:sp>
      <p:sp>
        <p:nvSpPr>
          <p:cNvPr id="22" name="Text 22"/>
          <p:cNvSpPr txBox="1"/>
          <p:nvPr/>
        </p:nvSpPr>
        <p:spPr>
          <a:xfrm>
            <a:off x="8305800" y="2476500"/>
            <a:ext cx="228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0D766F"/>
                </a:solidFill>
              </a:rPr>
              <a:t>Gallery</a:t>
            </a:r>
            <a:endParaRPr lang="en-US" sz="2600"/>
          </a:p>
        </p:txBody>
      </p:sp>
      <p:sp>
        <p:nvSpPr>
          <p:cNvPr id="23" name="Text 23"/>
          <p:cNvSpPr txBox="1"/>
          <p:nvPr/>
        </p:nvSpPr>
        <p:spPr>
          <a:xfrm>
            <a:off x="1066800" y="4286250"/>
            <a:ext cx="228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0D766F"/>
                </a:solidFill>
              </a:rPr>
              <a:t>Upload</a:t>
            </a:r>
            <a:endParaRPr lang="en-US" sz="2600"/>
          </a:p>
        </p:txBody>
      </p:sp>
      <p:sp>
        <p:nvSpPr>
          <p:cNvPr id="24" name="Text 24"/>
          <p:cNvSpPr txBox="1"/>
          <p:nvPr/>
        </p:nvSpPr>
        <p:spPr>
          <a:xfrm>
            <a:off x="4686300" y="4286250"/>
            <a:ext cx="228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0D766F"/>
                </a:solidFill>
              </a:rPr>
              <a:t>Face Match</a:t>
            </a:r>
            <a:endParaRPr lang="en-US" sz="2600"/>
          </a:p>
        </p:txBody>
      </p:sp>
      <p:sp>
        <p:nvSpPr>
          <p:cNvPr id="25" name="Text 25"/>
          <p:cNvSpPr txBox="1"/>
          <p:nvPr/>
        </p:nvSpPr>
        <p:spPr>
          <a:xfrm>
            <a:off x="8305800" y="4286250"/>
            <a:ext cx="228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0D766F"/>
                </a:solidFill>
              </a:rPr>
              <a:t>Analytics</a:t>
            </a:r>
            <a:endParaRPr lang="en-US"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66750" y="495300"/>
            <a:ext cx="8572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4000" b="1">
                <a:solidFill>
                  <a:srgbClr val="17201B"/>
                </a:solidFill>
              </a:rPr>
              <a:t>Scalable Architecture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66750" y="1190625"/>
            <a:ext cx="8763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400">
                <a:solidFill>
                  <a:srgbClr val="64736B"/>
                </a:solidFill>
              </a:rPr>
              <a:t>The prototype is static, but the production plan is cloud-native and media-first.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762000" y="2714625"/>
            <a:ext cx="1428750" cy="876300"/>
          </a:xfrm>
          <a:prstGeom prst="roundRect">
            <a:avLst/>
          </a:prstGeom>
          <a:solidFill>
            <a:srgbClr val="DFF3EF"/>
          </a:solidFill>
          <a:ln>
            <a:solidFill>
              <a:srgbClr val="0D766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2571750" y="2714625"/>
            <a:ext cx="1428750" cy="876300"/>
          </a:xfrm>
          <a:prstGeom prst="roundRect">
            <a:avLst/>
          </a:prstGeom>
          <a:solidFill>
            <a:srgbClr val="DFF3EF"/>
          </a:solidFill>
          <a:ln>
            <a:solidFill>
              <a:srgbClr val="0D766F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81500" y="2714625"/>
            <a:ext cx="1428750" cy="876300"/>
          </a:xfrm>
          <a:prstGeom prst="roundRect">
            <a:avLst/>
          </a:prstGeom>
          <a:solidFill>
            <a:srgbClr val="DFF3EF"/>
          </a:solidFill>
          <a:ln>
            <a:solidFill>
              <a:srgbClr val="0D766F"/>
            </a:solidFill>
          </a:ln>
        </p:spPr>
      </p:sp>
      <p:sp>
        <p:nvSpPr>
          <p:cNvPr id="13" name="Shape 13"/>
          <p:cNvSpPr/>
          <p:nvPr/>
        </p:nvSpPr>
        <p:spPr>
          <a:xfrm>
            <a:off x="6191250" y="2714625"/>
            <a:ext cx="1428750" cy="876300"/>
          </a:xfrm>
          <a:prstGeom prst="roundRect">
            <a:avLst/>
          </a:prstGeom>
          <a:solidFill>
            <a:srgbClr val="DFF3EF"/>
          </a:solidFill>
          <a:ln>
            <a:solidFill>
              <a:srgbClr val="0D766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8001000" y="2714625"/>
            <a:ext cx="1428750" cy="876300"/>
          </a:xfrm>
          <a:prstGeom prst="roundRect">
            <a:avLst/>
          </a:prstGeom>
          <a:solidFill>
            <a:srgbClr val="DFF3EF"/>
          </a:solidFill>
          <a:ln>
            <a:solidFill>
              <a:srgbClr val="0D766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9810750" y="2714625"/>
            <a:ext cx="1428750" cy="876300"/>
          </a:xfrm>
          <a:prstGeom prst="roundRect">
            <a:avLst/>
          </a:prstGeom>
          <a:solidFill>
            <a:srgbClr val="DFF3EF"/>
          </a:solidFill>
          <a:ln>
            <a:solidFill>
              <a:srgbClr val="0D766F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52500" y="3028950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07534E"/>
                </a:solidFill>
              </a:rPr>
              <a:t>Web App</a:t>
            </a:r>
            <a:endParaRPr lang="en-US" sz="2000"/>
          </a:p>
        </p:txBody>
      </p:sp>
      <p:sp>
        <p:nvSpPr>
          <p:cNvPr id="21" name="Text 21"/>
          <p:cNvSpPr txBox="1"/>
          <p:nvPr/>
        </p:nvSpPr>
        <p:spPr>
          <a:xfrm>
            <a:off x="2762250" y="3028950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07534E"/>
                </a:solidFill>
              </a:rPr>
              <a:t>API</a:t>
            </a:r>
            <a:endParaRPr lang="en-US" sz="2000"/>
          </a:p>
        </p:txBody>
      </p:sp>
      <p:sp>
        <p:nvSpPr>
          <p:cNvPr id="22" name="Text 22"/>
          <p:cNvSpPr txBox="1"/>
          <p:nvPr/>
        </p:nvSpPr>
        <p:spPr>
          <a:xfrm>
            <a:off x="4572000" y="3028950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07534E"/>
                </a:solidFill>
              </a:rPr>
              <a:t>Postgres</a:t>
            </a:r>
            <a:endParaRPr lang="en-US" sz="2000"/>
          </a:p>
        </p:txBody>
      </p:sp>
      <p:sp>
        <p:nvSpPr>
          <p:cNvPr id="23" name="Text 23"/>
          <p:cNvSpPr txBox="1"/>
          <p:nvPr/>
        </p:nvSpPr>
        <p:spPr>
          <a:xfrm>
            <a:off x="6381750" y="3028950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07534E"/>
                </a:solidFill>
              </a:rPr>
              <a:t>S3/CDN</a:t>
            </a:r>
            <a:endParaRPr lang="en-US" sz="2000"/>
          </a:p>
        </p:txBody>
      </p:sp>
      <p:sp>
        <p:nvSpPr>
          <p:cNvPr id="24" name="Text 24"/>
          <p:cNvSpPr txBox="1"/>
          <p:nvPr/>
        </p:nvSpPr>
        <p:spPr>
          <a:xfrm>
            <a:off x="8191500" y="3028950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07534E"/>
                </a:solidFill>
              </a:rPr>
              <a:t>Workers</a:t>
            </a:r>
            <a:endParaRPr lang="en-US" sz="2000"/>
          </a:p>
        </p:txBody>
      </p:sp>
      <p:sp>
        <p:nvSpPr>
          <p:cNvPr id="25" name="Text 25"/>
          <p:cNvSpPr txBox="1"/>
          <p:nvPr/>
        </p:nvSpPr>
        <p:spPr>
          <a:xfrm>
            <a:off x="10001250" y="3028950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07534E"/>
                </a:solidFill>
              </a:rPr>
              <a:t>AI</a:t>
            </a:r>
            <a:endParaRPr lang="en-US" sz="2000"/>
          </a:p>
        </p:txBody>
      </p:sp>
      <p:sp>
        <p:nvSpPr>
          <p:cNvPr id="26" name="Text 26"/>
          <p:cNvSpPr txBox="1"/>
          <p:nvPr/>
        </p:nvSpPr>
        <p:spPr>
          <a:xfrm>
            <a:off x="781050" y="4810125"/>
            <a:ext cx="91440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600">
                <a:solidFill>
                  <a:srgbClr val="17201B"/>
                </a:solidFill>
              </a:rPr>
              <a:t>Signed URLs, background compression, AI tagging, face embeddings, moderation, and realtime notification streams keep the app scalable.</a:t>
            </a:r>
            <a:endParaRPr lang="en-US"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>
            <a:solidFill>
              <a:srgbClr val="FFFFFF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66750" y="552450"/>
            <a:ext cx="809625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4000" b="1">
                <a:solidFill>
                  <a:srgbClr val="FFFFFF"/>
                </a:solidFill>
              </a:rPr>
              <a:t>Demo Story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85800" y="1333500"/>
            <a:ext cx="7810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400">
                <a:solidFill>
                  <a:srgbClr val="C5D5CD"/>
                </a:solidFill>
              </a:rPr>
              <a:t>A short path that shows the project end to end.</a:t>
            </a:r>
            <a:endParaRPr lang="en-US" sz="2400"/>
          </a:p>
        </p:txBody>
      </p:sp>
      <p:sp>
        <p:nvSpPr>
          <p:cNvPr id="5" name="Text 5"/>
          <p:cNvSpPr txBox="1"/>
          <p:nvPr/>
        </p:nvSpPr>
        <p:spPr>
          <a:xfrm>
            <a:off x="876300" y="2333625"/>
            <a:ext cx="9334500" cy="247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700">
                <a:solidFill>
                  <a:srgbClr val="FFFFFF"/>
                </a:solidFill>
              </a:rPr>
              <a:t>1. Switch roles to show private access control</a:t>
            </a:r>
            <a:endParaRPr lang="en-US" sz="2700"/>
          </a:p>
          <a:p>
            <a:r>
              <a:rPr lang="en-US" sz="2700">
                <a:solidFill>
                  <a:srgbClr val="FFFFFF"/>
                </a:solidFill>
              </a:rPr>
              <a:t>2. Create an event album and sort/filter events</a:t>
            </a:r>
            <a:endParaRPr lang="en-US" sz="2700"/>
          </a:p>
          <a:p>
            <a:r>
              <a:rPr lang="en-US" sz="2700">
                <a:solidFill>
                  <a:srgbClr val="FFFFFF"/>
                </a:solidFill>
              </a:rPr>
              <a:t>3. Search gallery by event, tag, uploader, and date</a:t>
            </a:r>
            <a:endParaRPr lang="en-US" sz="2700"/>
          </a:p>
          <a:p>
            <a:r>
              <a:rPr lang="en-US" sz="2700">
                <a:solidFill>
                  <a:srgbClr val="FFFFFF"/>
                </a:solidFill>
              </a:rPr>
              <a:t>4. Upload files, preview them, publish, and interact</a:t>
            </a:r>
            <a:endParaRPr lang="en-US" sz="2700"/>
          </a:p>
          <a:p>
            <a:r>
              <a:rPr lang="en-US" sz="2700">
                <a:solidFill>
                  <a:srgbClr val="FFFFFF"/>
                </a:solidFill>
              </a:rPr>
              <a:t>5. Upload selfie, view matches, then review analytics</a:t>
            </a:r>
            <a:endParaRPr lang="en-US" sz="2700"/>
          </a:p>
        </p:txBody>
      </p:sp>
      <p:sp>
        <p:nvSpPr>
          <p:cNvPr id="6" name="Shape 6"/>
          <p:cNvSpPr/>
          <p:nvPr/>
        </p:nvSpPr>
        <p:spPr>
          <a:xfrm>
            <a:off x="781050" y="5572125"/>
            <a:ext cx="9810750" cy="514350"/>
          </a:xfrm>
          <a:prstGeom prst="roundRect">
            <a:avLst/>
          </a:prstGeom>
          <a:solidFill>
            <a:srgbClr val="F4D58D"/>
          </a:solidFill>
          <a:ln>
            <a:solidFill>
              <a:srgbClr val="F4D58D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28700" y="5715000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17201B"/>
                </a:solidFill>
              </a:rPr>
              <a:t>Built as a clean, dependency-free prototype for fast judging and local review.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entVault">
  <a:themeElements>
    <a:clrScheme name="EventVault">
      <a:dk1>
        <a:srgbClr val="17201B"/>
      </a:dk1>
      <a:lt1>
        <a:srgbClr val="FFFFFF"/>
      </a:lt1>
      <a:dk2>
        <a:srgbClr val="16211D"/>
      </a:dk2>
      <a:lt2>
        <a:srgbClr val="F7F5EF"/>
      </a:lt2>
      <a:accent1>
        <a:srgbClr val="0D766F"/>
      </a:accent1>
      <a:accent2>
        <a:srgbClr val="C9852F"/>
      </a:accent2>
      <a:accent3>
        <a:srgbClr val="3C70A4"/>
      </a:accent3>
      <a:accent4>
        <a:srgbClr val="C85F6A"/>
      </a:accent4>
      <a:accent5>
        <a:srgbClr val="64736B"/>
      </a:accent5>
      <a:accent6>
        <a:srgbClr val="DFF3EF"/>
      </a:accent6>
      <a:hlink>
        <a:srgbClr val="0D766F"/>
      </a:hlink>
      <a:folHlink>
        <a:srgbClr val="07534E"/>
      </a:folHlink>
    </a:clrScheme>
    <a:fontScheme name="EventVault">
      <a:majorFont>
        <a:latin typeface="Aptos Display"/>
      </a:majorFont>
      <a:minorFont>
        <a:latin typeface="Aptos"/>
      </a:minorFont>
    </a:fontScheme>
    <a:fmtScheme name="EventVault">
      <a:fillStyleLst/>
      <a:lnStyleLst/>
      <a:effectStyleLst/>
      <a:bgFillStyleLst/>
    </a:fmtScheme>
  </a:themeElements>
</a:theme>
</file>